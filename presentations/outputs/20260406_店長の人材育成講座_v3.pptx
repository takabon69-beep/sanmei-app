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616" y="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29B117-FD25-4383-9A39-B19808A69B18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3949F6-6C1B-4346-A903-B2943F99C2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3405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テクニックではなく在り方を強調。最後は矢印のシンプルな図としてイメージ。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心理的安全を整える一言を添える。一言でいいですよと気軽に促す。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才能でも環境でもないことを断言。キーワードはマインドセット。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自己診断として投げかけ、切り替えられることが重要であると〆る。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静かな時間をつくる。書けない人にはなぜ書けないかを書くよう促す。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自己認識の精度が関わり方を決める。ジョハリの窓に触れても良い。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ズレがあることが学びになる。第二部への橋渡し。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感情伝染（エモーショナルコンテイジョン）について説明。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誰にも見せなくていい。怒りの正体（べき思考）を言語化。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我慢ではなく変換。次のコミュニケーションパートへ橋渡し。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指示 vs 対話。相手が自分の言葉で動き出す状態を目指す。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実際に声に出して体感させる。どのタイプが届くかを気づかせる。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存在・行動・成果・成長。行動やプロセスに注目するのがポイント。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店長の設計力が試される最終パート。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今日学んだ承認をその場で実践する。問いを最後に残して終わる。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2048545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2179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(C) 2026 株式会社村上経営研究所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1</a:t>
            </a:r>
          </a:p>
        </p:txBody>
      </p:sp>
      <p:pic>
        <p:nvPicPr>
          <p:cNvPr id="5" name="Picture 4" descr="mascot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4812" y="3428999"/>
            <a:ext cx="2660073" cy="26600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336392"/>
            <a:ext cx="7813964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/>
            </a:pPr>
            <a:r>
              <a:rPr dirty="0" err="1"/>
              <a:t>店長のための</a:t>
            </a:r>
            <a:endParaRPr lang="en-US" dirty="0"/>
          </a:p>
          <a:p>
            <a:pPr algn="l">
              <a:defRPr sz="5400" b="1"/>
            </a:pPr>
            <a:r>
              <a:rPr dirty="0" err="1"/>
              <a:t>人材育成講座</a:t>
            </a:r>
            <a:endParaRPr dirty="0"/>
          </a:p>
          <a:p>
            <a:pPr algn="l">
              <a:defRPr sz="2800">
                <a:solidFill>
                  <a:srgbClr val="282828"/>
                </a:solidFill>
              </a:defRPr>
            </a:pPr>
            <a:r>
              <a:rPr dirty="0"/>
              <a:t>― </a:t>
            </a:r>
            <a:r>
              <a:rPr dirty="0" err="1"/>
              <a:t>まず自分を育てる、そして部下を育てる</a:t>
            </a:r>
            <a:r>
              <a:rPr dirty="0"/>
              <a:t> 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対象：小売業 店長 ／ 形式：ワークショップ（2時間）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4320"/>
            <a:ext cx="2048545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2179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(C) 2026 株式会社村上経営研究所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2</a:t>
            </a:r>
          </a:p>
        </p:txBody>
      </p:sp>
      <p:pic>
        <p:nvPicPr>
          <p:cNvPr id="5" name="Picture 4" descr="mascot_m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4175" y="3566160"/>
            <a:ext cx="2560320" cy="2560320"/>
          </a:xfrm>
          <a:prstGeom prst="rect">
            <a:avLst/>
          </a:prstGeom>
        </p:spPr>
      </p:pic>
      <p:sp>
        <p:nvSpPr>
          <p:cNvPr id="6" name="Line Callout 1 5"/>
          <p:cNvSpPr/>
          <p:nvPr/>
        </p:nvSpPr>
        <p:spPr>
          <a:xfrm>
            <a:off x="9265615" y="1720215"/>
            <a:ext cx="2560320" cy="1371600"/>
          </a:xfrm>
          <a:prstGeom prst="borderCallout1">
            <a:avLst>
              <a:gd name="adj1" fmla="val 102778"/>
              <a:gd name="adj2" fmla="val 38170"/>
              <a:gd name="adj3" fmla="val 140972"/>
              <a:gd name="adj4" fmla="val 39420"/>
            </a:avLst>
          </a:prstGeom>
          <a:solidFill>
            <a:srgbClr val="FFFFE6"/>
          </a:solidFill>
          <a:ln>
            <a:solidFill>
              <a:srgbClr val="96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rPr dirty="0" err="1"/>
              <a:t>まずは店長自身の「在り方」が大切ですよ</a:t>
            </a:r>
            <a:r>
              <a:rPr dirty="0"/>
              <a:t>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50443" y="731520"/>
            <a:ext cx="389080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70C0"/>
                </a:solidFill>
              </a:defRPr>
            </a:pPr>
            <a:r>
              <a:rPr dirty="0" err="1"/>
              <a:t>部下を育てる前に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2200"/>
            </a:pPr>
            <a:r>
              <a:rPr dirty="0" err="1"/>
              <a:t>あなた自身は、育ち続けていますか</a:t>
            </a:r>
            <a:r>
              <a:rPr dirty="0"/>
              <a:t>？</a:t>
            </a:r>
          </a:p>
          <a:p>
            <a:pPr>
              <a:spcAft>
                <a:spcPts val="1200"/>
              </a:spcAft>
              <a:defRPr sz="2200"/>
            </a:pPr>
            <a:r>
              <a:rPr dirty="0"/>
              <a:t>・</a:t>
            </a:r>
            <a:r>
              <a:rPr dirty="0" err="1"/>
              <a:t>この講座は「部下育成のテクニック」を教えません</a:t>
            </a:r>
            <a:endParaRPr dirty="0"/>
          </a:p>
          <a:p>
            <a:pPr>
              <a:spcAft>
                <a:spcPts val="1200"/>
              </a:spcAft>
              <a:defRPr sz="2200"/>
            </a:pPr>
            <a:r>
              <a:rPr dirty="0"/>
              <a:t>・店長自身の「在り方」を問い直す2時間です</a:t>
            </a:r>
          </a:p>
          <a:p>
            <a:pPr>
              <a:spcAft>
                <a:spcPts val="1200"/>
              </a:spcAft>
              <a:defRPr sz="2200"/>
            </a:pPr>
            <a:r>
              <a:rPr dirty="0" err="1"/>
              <a:t>自分を育てる</a:t>
            </a:r>
            <a:r>
              <a:rPr dirty="0"/>
              <a:t> → </a:t>
            </a:r>
            <a:r>
              <a:rPr dirty="0" err="1"/>
              <a:t>感情を整える</a:t>
            </a:r>
            <a:r>
              <a:rPr dirty="0"/>
              <a:t> → </a:t>
            </a:r>
            <a:r>
              <a:rPr dirty="0" err="1"/>
              <a:t>伝わる言葉</a:t>
            </a:r>
            <a:r>
              <a:rPr dirty="0"/>
              <a:t> → </a:t>
            </a:r>
            <a:r>
              <a:rPr dirty="0" err="1"/>
              <a:t>部下が育つ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4320"/>
            <a:ext cx="2048545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2179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(C) 2026 株式会社村上経営研究所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3</a:t>
            </a:r>
          </a:p>
        </p:txBody>
      </p:sp>
      <p:pic>
        <p:nvPicPr>
          <p:cNvPr id="5" name="Picture 4" descr="mascot_m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4175" y="3566160"/>
            <a:ext cx="2560320" cy="2560320"/>
          </a:xfrm>
          <a:prstGeom prst="rect">
            <a:avLst/>
          </a:prstGeom>
        </p:spPr>
      </p:pic>
      <p:sp>
        <p:nvSpPr>
          <p:cNvPr id="6" name="Line Callout 1 5"/>
          <p:cNvSpPr/>
          <p:nvPr/>
        </p:nvSpPr>
        <p:spPr>
          <a:xfrm>
            <a:off x="5973775" y="3108960"/>
            <a:ext cx="3657600" cy="1371600"/>
          </a:xfrm>
          <a:prstGeom prst="borderCallout1">
            <a:avLst/>
          </a:prstGeom>
          <a:solidFill>
            <a:srgbClr val="FFFFE6"/>
          </a:solidFill>
          <a:ln>
            <a:solidFill>
              <a:srgbClr val="96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お隣の方と気軽に話してみましょう！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11986" y="731520"/>
            <a:ext cx="736772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70C0"/>
                </a:solidFill>
              </a:defRPr>
            </a:pPr>
            <a:r>
              <a:rPr dirty="0"/>
              <a:t>隣の人と話してみましょう（3分）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2200"/>
            </a:pPr>
            <a:r>
              <a:t>「今、店長として一番しんどいことは何ですか？」</a:t>
            </a:r>
          </a:p>
          <a:p>
            <a:pPr>
              <a:spcAft>
                <a:spcPts val="1200"/>
              </a:spcAft>
              <a:defRPr sz="2200"/>
            </a:pPr>
            <a:r>
              <a:t>・正解はありません</a:t>
            </a:r>
          </a:p>
          <a:p>
            <a:pPr>
              <a:spcAft>
                <a:spcPts val="1200"/>
              </a:spcAft>
              <a:defRPr sz="2200"/>
            </a:pPr>
            <a:r>
              <a:t>・まず自分が話す、次に聞く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4320"/>
            <a:ext cx="2048545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2179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rPr dirty="0"/>
              <a:t>(C) 2026 </a:t>
            </a:r>
            <a:r>
              <a:rPr dirty="0" err="1"/>
              <a:t>株式会社村上経営研究所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094415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2908" y="1849582"/>
            <a:ext cx="8917269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548235"/>
                </a:solidFill>
              </a:defRPr>
            </a:pPr>
            <a:r>
              <a:rPr dirty="0" err="1"/>
              <a:t>第一部</a:t>
            </a:r>
            <a:r>
              <a:rPr dirty="0"/>
              <a:t>① </a:t>
            </a:r>
            <a:r>
              <a:rPr dirty="0" err="1"/>
              <a:t>学ぶ姿勢・成長マインドセット</a:t>
            </a:r>
            <a:endParaRPr lang="en-US" dirty="0"/>
          </a:p>
          <a:p>
            <a:pPr algn="ctr">
              <a:defRPr sz="2400">
                <a:solidFill>
                  <a:srgbClr val="548235"/>
                </a:solidFill>
              </a:defRPr>
            </a:pPr>
            <a:endParaRPr dirty="0"/>
          </a:p>
          <a:p>
            <a:pPr algn="ctr">
              <a:defRPr sz="5400" b="1"/>
            </a:pPr>
            <a:r>
              <a:rPr dirty="0"/>
              <a:t>「</a:t>
            </a:r>
            <a:r>
              <a:rPr dirty="0" err="1"/>
              <a:t>成長し続ける店長</a:t>
            </a:r>
            <a:r>
              <a:rPr dirty="0"/>
              <a:t>」</a:t>
            </a:r>
            <a:endParaRPr lang="en-US" dirty="0"/>
          </a:p>
          <a:p>
            <a:pPr algn="ctr">
              <a:defRPr sz="5400" b="1"/>
            </a:pPr>
            <a:r>
              <a:rPr dirty="0"/>
              <a:t>と</a:t>
            </a:r>
            <a:endParaRPr lang="en-US" dirty="0"/>
          </a:p>
          <a:p>
            <a:pPr algn="ctr">
              <a:defRPr sz="5400" b="1"/>
            </a:pPr>
            <a:r>
              <a:rPr dirty="0"/>
              <a:t>「</a:t>
            </a:r>
            <a:r>
              <a:rPr dirty="0" err="1"/>
              <a:t>止まってしまう店長</a:t>
            </a:r>
            <a:r>
              <a:rPr dirty="0"/>
              <a:t>」</a:t>
            </a:r>
          </a:p>
        </p:txBody>
      </p:sp>
      <p:pic>
        <p:nvPicPr>
          <p:cNvPr id="6" name="Picture 5" descr="mascot_m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2443" y="3886200"/>
            <a:ext cx="1953492" cy="19534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4320"/>
            <a:ext cx="2048545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2179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(C) 2026 株式会社村上経営研究所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5</a:t>
            </a:r>
          </a:p>
        </p:txBody>
      </p:sp>
      <p:pic>
        <p:nvPicPr>
          <p:cNvPr id="5" name="Picture 4" descr="mascot_m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4175" y="3566160"/>
            <a:ext cx="2560320" cy="2560320"/>
          </a:xfrm>
          <a:prstGeom prst="rect">
            <a:avLst/>
          </a:prstGeom>
        </p:spPr>
      </p:pic>
      <p:sp>
        <p:nvSpPr>
          <p:cNvPr id="6" name="Line Callout 1 5"/>
          <p:cNvSpPr/>
          <p:nvPr/>
        </p:nvSpPr>
        <p:spPr>
          <a:xfrm>
            <a:off x="9592970" y="1835051"/>
            <a:ext cx="2141525" cy="1371600"/>
          </a:xfrm>
          <a:prstGeom prst="borderCallout1">
            <a:avLst/>
          </a:prstGeom>
          <a:solidFill>
            <a:srgbClr val="FFFFE6"/>
          </a:solidFill>
          <a:ln>
            <a:solidFill>
              <a:srgbClr val="96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「気づいた瞬間」から成長は始まります！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1039" y="731520"/>
            <a:ext cx="866961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70C0"/>
                </a:solidFill>
              </a:defRPr>
            </a:pPr>
            <a:r>
              <a:rPr dirty="0" err="1"/>
              <a:t>固定型</a:t>
            </a:r>
            <a:r>
              <a:rPr dirty="0"/>
              <a:t> vs </a:t>
            </a:r>
            <a:r>
              <a:rPr dirty="0" err="1"/>
              <a:t>成長型</a:t>
            </a:r>
            <a:r>
              <a:rPr dirty="0"/>
              <a:t>　</a:t>
            </a:r>
            <a:r>
              <a:rPr dirty="0" err="1"/>
              <a:t>どちらにありますか</a:t>
            </a:r>
            <a:r>
              <a:rPr dirty="0"/>
              <a:t>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2818" y="2131695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2200"/>
            </a:pPr>
            <a:r>
              <a:rPr dirty="0"/>
              <a:t>【</a:t>
            </a:r>
            <a:r>
              <a:rPr dirty="0" err="1"/>
              <a:t>固定型</a:t>
            </a:r>
            <a:r>
              <a:rPr dirty="0"/>
              <a:t>】「</a:t>
            </a:r>
            <a:r>
              <a:rPr dirty="0" err="1"/>
              <a:t>向いてない</a:t>
            </a:r>
            <a:r>
              <a:rPr dirty="0"/>
              <a:t>」「</a:t>
            </a:r>
            <a:r>
              <a:rPr dirty="0" err="1"/>
              <a:t>能力は変わらない</a:t>
            </a:r>
            <a:r>
              <a:rPr dirty="0"/>
              <a:t>」「</a:t>
            </a:r>
            <a:r>
              <a:rPr dirty="0" err="1"/>
              <a:t>忙しいから無理</a:t>
            </a:r>
            <a:r>
              <a:rPr dirty="0"/>
              <a:t>」</a:t>
            </a:r>
          </a:p>
          <a:p>
            <a:pPr>
              <a:spcAft>
                <a:spcPts val="1200"/>
              </a:spcAft>
              <a:defRPr sz="2200"/>
            </a:pPr>
            <a:r>
              <a:rPr dirty="0"/>
              <a:t>【</a:t>
            </a:r>
            <a:r>
              <a:rPr dirty="0" err="1"/>
              <a:t>成長型</a:t>
            </a:r>
            <a:r>
              <a:rPr dirty="0"/>
              <a:t>】「</a:t>
            </a:r>
            <a:r>
              <a:rPr dirty="0" err="1"/>
              <a:t>失敗から学ぶ</a:t>
            </a:r>
            <a:r>
              <a:rPr dirty="0"/>
              <a:t>」「</a:t>
            </a:r>
            <a:r>
              <a:rPr dirty="0" err="1"/>
              <a:t>盗めるものはないか</a:t>
            </a:r>
            <a:r>
              <a:rPr dirty="0"/>
              <a:t>」「5分でもやる」</a:t>
            </a:r>
          </a:p>
          <a:p>
            <a:pPr>
              <a:spcAft>
                <a:spcPts val="1200"/>
              </a:spcAft>
              <a:defRPr sz="2200"/>
            </a:pPr>
            <a:r>
              <a:rPr dirty="0" err="1"/>
              <a:t>マインドセットは「気づいた瞬間」から変えられる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4320"/>
            <a:ext cx="2048545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2179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(C) 2026 株式会社村上経営研究所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6</a:t>
            </a:r>
          </a:p>
        </p:txBody>
      </p:sp>
      <p:pic>
        <p:nvPicPr>
          <p:cNvPr id="5" name="Picture 4" descr="mascot_m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4175" y="3566160"/>
            <a:ext cx="2560320" cy="2560320"/>
          </a:xfrm>
          <a:prstGeom prst="rect">
            <a:avLst/>
          </a:prstGeom>
        </p:spPr>
      </p:pic>
      <p:sp>
        <p:nvSpPr>
          <p:cNvPr id="6" name="Line Callout 1 5"/>
          <p:cNvSpPr/>
          <p:nvPr/>
        </p:nvSpPr>
        <p:spPr>
          <a:xfrm>
            <a:off x="9601199" y="2064187"/>
            <a:ext cx="1927651" cy="1371600"/>
          </a:xfrm>
          <a:prstGeom prst="borderCallout1">
            <a:avLst/>
          </a:prstGeom>
          <a:solidFill>
            <a:srgbClr val="FFFFE6"/>
          </a:solidFill>
          <a:ln>
            <a:solidFill>
              <a:srgbClr val="96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自分自身を振り返る時間です。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48718" y="731520"/>
            <a:ext cx="829425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70C0"/>
                </a:solidFill>
              </a:defRPr>
            </a:pPr>
            <a:r>
              <a:rPr dirty="0"/>
              <a:t>方眼ノートに書いてみましょう（5分）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2200"/>
            </a:pPr>
            <a:r>
              <a:rPr dirty="0"/>
              <a:t>① </a:t>
            </a:r>
            <a:r>
              <a:rPr dirty="0" err="1"/>
              <a:t>自分が最後に「本気で学んだ」のはいつですか</a:t>
            </a:r>
            <a:r>
              <a:rPr dirty="0"/>
              <a:t>？</a:t>
            </a:r>
          </a:p>
          <a:p>
            <a:pPr>
              <a:spcAft>
                <a:spcPts val="1200"/>
              </a:spcAft>
              <a:defRPr sz="2200"/>
            </a:pPr>
            <a:r>
              <a:rPr dirty="0"/>
              <a:t>② </a:t>
            </a:r>
            <a:r>
              <a:rPr dirty="0" err="1"/>
              <a:t>そのきっかけは？その後どう変わりましたか</a:t>
            </a:r>
            <a:r>
              <a:rPr dirty="0"/>
              <a:t>？</a:t>
            </a:r>
          </a:p>
          <a:p>
            <a:pPr>
              <a:spcAft>
                <a:spcPts val="1200"/>
              </a:spcAft>
              <a:defRPr sz="2200"/>
            </a:pPr>
            <a:r>
              <a:rPr dirty="0"/>
              <a:t>③ 「</a:t>
            </a:r>
            <a:r>
              <a:rPr dirty="0" err="1"/>
              <a:t>忙しくて学べない」とき、何が優先されていますか</a:t>
            </a:r>
            <a:r>
              <a:rPr dirty="0"/>
              <a:t>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4320"/>
            <a:ext cx="2048545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2179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(C) 2026 株式会社村上経営研究所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7</a:t>
            </a:r>
          </a:p>
        </p:txBody>
      </p:sp>
      <p:pic>
        <p:nvPicPr>
          <p:cNvPr id="5" name="Picture 4" descr="mascot_m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4175" y="3566160"/>
            <a:ext cx="2560320" cy="2560320"/>
          </a:xfrm>
          <a:prstGeom prst="rect">
            <a:avLst/>
          </a:prstGeom>
        </p:spPr>
      </p:pic>
      <p:sp>
        <p:nvSpPr>
          <p:cNvPr id="6" name="Line Callout 1 5"/>
          <p:cNvSpPr/>
          <p:nvPr/>
        </p:nvSpPr>
        <p:spPr>
          <a:xfrm>
            <a:off x="8076895" y="1828800"/>
            <a:ext cx="3657600" cy="1371600"/>
          </a:xfrm>
          <a:prstGeom prst="borderCallout1">
            <a:avLst/>
          </a:prstGeom>
          <a:solidFill>
            <a:srgbClr val="FFFFE6"/>
          </a:solidFill>
          <a:ln>
            <a:solidFill>
              <a:srgbClr val="96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自分の「盲点」を知ることが部下理解のヒントです！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9202" y="731520"/>
            <a:ext cx="991329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70C0"/>
                </a:solidFill>
              </a:defRPr>
            </a:pPr>
            <a:r>
              <a:rPr dirty="0" err="1"/>
              <a:t>店長として自分をどれくらい知っていますか</a:t>
            </a:r>
            <a:r>
              <a:rPr dirty="0"/>
              <a:t>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2200"/>
            </a:pPr>
            <a:r>
              <a:t>① 得意なこと（強み）→ どんな場面で発揮？</a:t>
            </a:r>
          </a:p>
          <a:p>
            <a:pPr>
              <a:spcAft>
                <a:spcPts val="1200"/>
              </a:spcAft>
              <a:defRPr sz="2200"/>
            </a:pPr>
            <a:r>
              <a:t>② 苦手なこと（弱み）→ それを補うために？</a:t>
            </a:r>
          </a:p>
          <a:p>
            <a:pPr>
              <a:spcAft>
                <a:spcPts val="1200"/>
              </a:spcAft>
              <a:defRPr sz="2200"/>
            </a:pPr>
            <a:r>
              <a:t>③ 大切なこと（価値観）→ 譲れないものは？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4320"/>
            <a:ext cx="2048545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2179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(C) 2026 株式会社村上経営研究所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8</a:t>
            </a:r>
          </a:p>
        </p:txBody>
      </p:sp>
      <p:pic>
        <p:nvPicPr>
          <p:cNvPr id="5" name="Picture 4" descr="mascot_m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4175" y="3566160"/>
            <a:ext cx="2560320" cy="2560320"/>
          </a:xfrm>
          <a:prstGeom prst="rect">
            <a:avLst/>
          </a:prstGeom>
        </p:spPr>
      </p:pic>
      <p:sp>
        <p:nvSpPr>
          <p:cNvPr id="6" name="Line Callout 1 5"/>
          <p:cNvSpPr/>
          <p:nvPr/>
        </p:nvSpPr>
        <p:spPr>
          <a:xfrm>
            <a:off x="5973775" y="3108960"/>
            <a:ext cx="3657600" cy="1371600"/>
          </a:xfrm>
          <a:prstGeom prst="borderCallout1">
            <a:avLst/>
          </a:prstGeom>
          <a:solidFill>
            <a:srgbClr val="FFFFE6"/>
          </a:solidFill>
          <a:ln>
            <a:solidFill>
              <a:srgbClr val="96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他人の目線は新しい発見がありますね！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48718" y="731520"/>
            <a:ext cx="829425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70C0"/>
                </a:solidFill>
              </a:defRPr>
            </a:pPr>
            <a:r>
              <a:rPr dirty="0"/>
              <a:t>強みを相手の言葉で伝え合う（各3分）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2200"/>
            </a:pPr>
            <a:r>
              <a:t>「私が感じるあなたの強みは、〇〇なところです」</a:t>
            </a:r>
          </a:p>
          <a:p>
            <a:pPr>
              <a:spcAft>
                <a:spcPts val="1200"/>
              </a:spcAft>
              <a:defRPr sz="2200"/>
            </a:pPr>
            <a:r>
              <a:t>・自己申告ではなく、他者からの言葉を受け取る</a:t>
            </a:r>
          </a:p>
          <a:p>
            <a:pPr>
              <a:spcAft>
                <a:spcPts val="1200"/>
              </a:spcAft>
              <a:defRPr sz="2200"/>
            </a:pPr>
            <a:r>
              <a:t>・自分の見えていない面を知ることが部下理解の入口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4320"/>
            <a:ext cx="2048545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2179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(C) 2026 株式会社村上経営研究所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9295" y="2286000"/>
            <a:ext cx="8533105" cy="16619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48235"/>
                </a:solidFill>
              </a:defRPr>
            </a:pPr>
            <a:r>
              <a:rPr dirty="0" err="1"/>
              <a:t>第二部</a:t>
            </a:r>
            <a:r>
              <a:rPr dirty="0"/>
              <a:t>① </a:t>
            </a:r>
            <a:r>
              <a:rPr dirty="0" err="1"/>
              <a:t>感情のクセを知り、整える</a:t>
            </a:r>
            <a:endParaRPr lang="en-US" dirty="0"/>
          </a:p>
          <a:p>
            <a:pPr algn="ctr">
              <a:defRPr sz="2400">
                <a:solidFill>
                  <a:srgbClr val="548235"/>
                </a:solidFill>
              </a:defRPr>
            </a:pPr>
            <a:endParaRPr dirty="0"/>
          </a:p>
          <a:p>
            <a:pPr algn="ctr">
              <a:defRPr sz="5400" b="1"/>
            </a:pPr>
            <a:r>
              <a:rPr dirty="0" err="1"/>
              <a:t>店長の感情が売場をつくる</a:t>
            </a:r>
            <a:endParaRPr dirty="0"/>
          </a:p>
        </p:txBody>
      </p:sp>
      <p:pic>
        <p:nvPicPr>
          <p:cNvPr id="6" name="Picture 5" descr="mascot_m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798570"/>
            <a:ext cx="2419350" cy="24193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4320"/>
            <a:ext cx="2048545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2179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(C) 2026 株式会社村上経営研究所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10</a:t>
            </a:r>
          </a:p>
        </p:txBody>
      </p:sp>
      <p:pic>
        <p:nvPicPr>
          <p:cNvPr id="5" name="Picture 4" descr="mascot_m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4175" y="3566160"/>
            <a:ext cx="2560320" cy="2560320"/>
          </a:xfrm>
          <a:prstGeom prst="rect">
            <a:avLst/>
          </a:prstGeom>
        </p:spPr>
      </p:pic>
      <p:sp>
        <p:nvSpPr>
          <p:cNvPr id="6" name="Line Callout 1 5"/>
          <p:cNvSpPr/>
          <p:nvPr/>
        </p:nvSpPr>
        <p:spPr>
          <a:xfrm>
            <a:off x="5973775" y="3108960"/>
            <a:ext cx="3657600" cy="1371600"/>
          </a:xfrm>
          <a:prstGeom prst="borderCallout1">
            <a:avLst/>
          </a:prstGeom>
          <a:solidFill>
            <a:srgbClr val="FFFFE6"/>
          </a:solidFill>
          <a:ln>
            <a:solidFill>
              <a:srgbClr val="96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イライラは「べき」の裏返しなんです。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15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0C0"/>
                </a:solidFill>
              </a:defRPr>
            </a:pPr>
            <a:r>
              <a:t>「〜すべき」の裏側にあるもの（7分）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2200"/>
            </a:pPr>
            <a:r>
              <a:t>① 最近、イライラした場面を3つ挙げてください</a:t>
            </a:r>
          </a:p>
          <a:p>
            <a:pPr>
              <a:spcAft>
                <a:spcPts val="1200"/>
              </a:spcAft>
              <a:defRPr sz="2200"/>
            </a:pPr>
            <a:r>
              <a:t>② そのとき期待していた「〜すべき」は何ですか？</a:t>
            </a:r>
          </a:p>
          <a:p>
            <a:pPr>
              <a:spcAft>
                <a:spcPts val="1200"/>
              </a:spcAft>
              <a:defRPr sz="2200"/>
            </a:pPr>
            <a:r>
              <a:t>③ その「べき」は誰から学んだものですか？</a:t>
            </a:r>
          </a:p>
          <a:p>
            <a:pPr>
              <a:spcAft>
                <a:spcPts val="1200"/>
              </a:spcAft>
              <a:defRPr sz="2200"/>
            </a:pPr>
            <a:r>
              <a:t>怒り ＝ 「べき思考」が裏切られたサイン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4320"/>
            <a:ext cx="2048545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2179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(C) 2026 株式会社村上経営研究所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11</a:t>
            </a:r>
          </a:p>
        </p:txBody>
      </p:sp>
      <p:pic>
        <p:nvPicPr>
          <p:cNvPr id="5" name="Picture 4" descr="mascot_m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4175" y="3566160"/>
            <a:ext cx="2560320" cy="2560320"/>
          </a:xfrm>
          <a:prstGeom prst="rect">
            <a:avLst/>
          </a:prstGeom>
        </p:spPr>
      </p:pic>
      <p:sp>
        <p:nvSpPr>
          <p:cNvPr id="6" name="Line Callout 1 5"/>
          <p:cNvSpPr/>
          <p:nvPr/>
        </p:nvSpPr>
        <p:spPr>
          <a:xfrm>
            <a:off x="5973775" y="3108960"/>
            <a:ext cx="3657600" cy="1371600"/>
          </a:xfrm>
          <a:prstGeom prst="borderCallout1">
            <a:avLst/>
          </a:prstGeom>
          <a:solidFill>
            <a:srgbClr val="FFFFE6"/>
          </a:solidFill>
          <a:ln>
            <a:solidFill>
              <a:srgbClr val="96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怒りを「要望」に変えてみましょう！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15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0C0"/>
                </a:solidFill>
              </a:defRPr>
            </a:pPr>
            <a:r>
              <a:t>感情コントロールは「変換」の技術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2200"/>
            </a:pPr>
            <a:r>
              <a:t>・6秒ルール：ピークが過ぎるまで反応を待つ</a:t>
            </a:r>
          </a:p>
          <a:p>
            <a:pPr>
              <a:spcAft>
                <a:spcPts val="1200"/>
              </a:spcAft>
              <a:defRPr sz="2200"/>
            </a:pPr>
            <a:r>
              <a:t>・「なんで！」を「してほしかった（要望）」へ</a:t>
            </a:r>
          </a:p>
          <a:p>
            <a:pPr>
              <a:spcAft>
                <a:spcPts val="1200"/>
              </a:spcAft>
              <a:defRPr sz="2200"/>
            </a:pPr>
            <a:r>
              <a:t>× また遅刻か！ → ○ 時間通りに来てほしかった。何かあった？</a:t>
            </a:r>
          </a:p>
          <a:p>
            <a:pPr>
              <a:spcAft>
                <a:spcPts val="1200"/>
              </a:spcAft>
              <a:defRPr sz="2200"/>
            </a:pPr>
            <a:r>
              <a:t>× 何度言えば！ → ○ 手順をもう一度一緒に確認したい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4320"/>
            <a:ext cx="2048545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2179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(C) 2026 株式会社村上経営研究所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48235"/>
                </a:solidFill>
              </a:defRPr>
            </a:pPr>
            <a:r>
              <a:t>第二部② 伝わるコミュニケーションの設計</a:t>
            </a:r>
          </a:p>
          <a:p>
            <a:pPr algn="ctr">
              <a:defRPr sz="5400" b="1"/>
            </a:pPr>
            <a:r>
              <a:t>「指示したつもり」の落とし穴</a:t>
            </a:r>
          </a:p>
        </p:txBody>
      </p:sp>
      <p:pic>
        <p:nvPicPr>
          <p:cNvPr id="6" name="Picture 5" descr="mascot_m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4320"/>
            <a:ext cx="2048545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2179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(C) 2026 株式会社村上経営研究所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13</a:t>
            </a:r>
          </a:p>
        </p:txBody>
      </p:sp>
      <p:pic>
        <p:nvPicPr>
          <p:cNvPr id="5" name="Picture 4" descr="mascot_m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4175" y="3566160"/>
            <a:ext cx="2560320" cy="2560320"/>
          </a:xfrm>
          <a:prstGeom prst="rect">
            <a:avLst/>
          </a:prstGeom>
        </p:spPr>
      </p:pic>
      <p:sp>
        <p:nvSpPr>
          <p:cNvPr id="6" name="Line Callout 1 5"/>
          <p:cNvSpPr/>
          <p:nvPr/>
        </p:nvSpPr>
        <p:spPr>
          <a:xfrm>
            <a:off x="5973775" y="3108960"/>
            <a:ext cx="3657600" cy="1371600"/>
          </a:xfrm>
          <a:prstGeom prst="borderCallout1">
            <a:avLst/>
          </a:prstGeom>
          <a:solidFill>
            <a:srgbClr val="FFFFE6"/>
          </a:solidFill>
          <a:ln>
            <a:solidFill>
              <a:srgbClr val="96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相手の背景を聞くスタンスが大切です。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65738" y="731520"/>
            <a:ext cx="806021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70C0"/>
                </a:solidFill>
              </a:defRPr>
            </a:pPr>
            <a:r>
              <a:rPr dirty="0" err="1"/>
              <a:t>遅刻が続く部下への関わり方を変える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2200"/>
            </a:pPr>
            <a:r>
              <a:t>① 命令型：「またか。何度言えばわかる」</a:t>
            </a:r>
          </a:p>
          <a:p>
            <a:pPr>
              <a:spcAft>
                <a:spcPts val="1200"/>
              </a:spcAft>
              <a:defRPr sz="2200"/>
            </a:pPr>
            <a:r>
              <a:t>② 承認型：「最近頑張ってるね。遅刻だけ改善しよう」</a:t>
            </a:r>
          </a:p>
          <a:p>
            <a:pPr>
              <a:spcAft>
                <a:spcPts val="1200"/>
              </a:spcAft>
              <a:defRPr sz="2200"/>
            </a:pPr>
            <a:r>
              <a:t>③ 問いかけ型：「最近続いてるけど、何か困ってる？」</a:t>
            </a:r>
          </a:p>
          <a:p>
            <a:pPr>
              <a:spcAft>
                <a:spcPts val="1200"/>
              </a:spcAft>
              <a:defRPr sz="2200"/>
            </a:pPr>
            <a:r>
              <a:t>相手に一番届くのはどのタイプ？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4320"/>
            <a:ext cx="2048545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2179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(C) 2026 株式会社村上経営研究所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14</a:t>
            </a:r>
          </a:p>
        </p:txBody>
      </p:sp>
      <p:pic>
        <p:nvPicPr>
          <p:cNvPr id="5" name="Picture 4" descr="mascot_m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4175" y="3566160"/>
            <a:ext cx="2560320" cy="2560320"/>
          </a:xfrm>
          <a:prstGeom prst="rect">
            <a:avLst/>
          </a:prstGeom>
        </p:spPr>
      </p:pic>
      <p:sp>
        <p:nvSpPr>
          <p:cNvPr id="6" name="Line Callout 1 5"/>
          <p:cNvSpPr/>
          <p:nvPr/>
        </p:nvSpPr>
        <p:spPr>
          <a:xfrm>
            <a:off x="5973775" y="3108960"/>
            <a:ext cx="3657600" cy="1371600"/>
          </a:xfrm>
          <a:prstGeom prst="borderCallout1">
            <a:avLst/>
          </a:prstGeom>
          <a:solidFill>
            <a:srgbClr val="FFFFE6"/>
          </a:solidFill>
          <a:ln>
            <a:solidFill>
              <a:srgbClr val="96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「成長承認」ができる店長を目指しましょう！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28325" y="731520"/>
            <a:ext cx="273504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70C0"/>
                </a:solidFill>
              </a:defRPr>
            </a:pPr>
            <a:r>
              <a:rPr dirty="0"/>
              <a:t>承認の4段階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2200"/>
            </a:pPr>
            <a:r>
              <a:t>1. 【存在承認】「おはよう」「ありがとう」</a:t>
            </a:r>
          </a:p>
          <a:p>
            <a:pPr>
              <a:spcAft>
                <a:spcPts val="1200"/>
              </a:spcAft>
              <a:defRPr sz="2200"/>
            </a:pPr>
            <a:r>
              <a:t>2. 【行動承認】「〇〇してくれたね」</a:t>
            </a:r>
          </a:p>
          <a:p>
            <a:pPr>
              <a:spcAft>
                <a:spcPts val="1200"/>
              </a:spcAft>
              <a:defRPr sz="2200"/>
            </a:pPr>
            <a:r>
              <a:t>3. 【成果承認】「目標達成！よくやった」</a:t>
            </a:r>
          </a:p>
          <a:p>
            <a:pPr>
              <a:spcAft>
                <a:spcPts val="1200"/>
              </a:spcAft>
              <a:defRPr sz="2200"/>
            </a:pPr>
            <a:r>
              <a:t>4. 【成長承認】「先月より確実に成長してるね」</a:t>
            </a:r>
          </a:p>
          <a:p>
            <a:pPr>
              <a:spcAft>
                <a:spcPts val="1200"/>
              </a:spcAft>
              <a:defRPr sz="2200"/>
            </a:pPr>
            <a:r>
              <a:t>第4段階まで使い、人を育てる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4320"/>
            <a:ext cx="2048545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2179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(C) 2026 株式会社村上経営研究所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998" y="2286000"/>
            <a:ext cx="7141699" cy="21236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48235"/>
                </a:solidFill>
              </a:defRPr>
            </a:pPr>
            <a:r>
              <a:rPr dirty="0" err="1"/>
              <a:t>第三部</a:t>
            </a:r>
            <a:r>
              <a:rPr dirty="0"/>
              <a:t> </a:t>
            </a:r>
            <a:r>
              <a:rPr dirty="0" err="1"/>
              <a:t>育つ場の設計と明日からの行動</a:t>
            </a:r>
            <a:endParaRPr dirty="0"/>
          </a:p>
          <a:p>
            <a:pPr algn="ctr">
              <a:defRPr sz="5400" b="1"/>
            </a:pPr>
            <a:r>
              <a:rPr dirty="0"/>
              <a:t>「</a:t>
            </a:r>
            <a:r>
              <a:rPr dirty="0" err="1"/>
              <a:t>育てる」のではなく</a:t>
            </a:r>
            <a:endParaRPr lang="en-US" dirty="0"/>
          </a:p>
          <a:p>
            <a:pPr algn="ctr">
              <a:defRPr sz="5400" b="1"/>
            </a:pPr>
            <a:r>
              <a:rPr dirty="0"/>
              <a:t>「</a:t>
            </a:r>
            <a:r>
              <a:rPr dirty="0" err="1"/>
              <a:t>育つ場をつくる</a:t>
            </a:r>
            <a:r>
              <a:rPr dirty="0"/>
              <a:t>」</a:t>
            </a:r>
          </a:p>
        </p:txBody>
      </p:sp>
      <p:pic>
        <p:nvPicPr>
          <p:cNvPr id="6" name="Picture 5" descr="mascot_m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4320"/>
            <a:ext cx="2048545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2179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(C) 2026 株式会社村上経営研究所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16</a:t>
            </a:r>
          </a:p>
        </p:txBody>
      </p:sp>
      <p:pic>
        <p:nvPicPr>
          <p:cNvPr id="5" name="Picture 4" descr="mascot_m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4175" y="3566160"/>
            <a:ext cx="2560320" cy="2560320"/>
          </a:xfrm>
          <a:prstGeom prst="rect">
            <a:avLst/>
          </a:prstGeom>
        </p:spPr>
      </p:pic>
      <p:sp>
        <p:nvSpPr>
          <p:cNvPr id="6" name="Line Callout 1 5"/>
          <p:cNvSpPr/>
          <p:nvPr/>
        </p:nvSpPr>
        <p:spPr>
          <a:xfrm>
            <a:off x="5973775" y="3108960"/>
            <a:ext cx="3657600" cy="1371600"/>
          </a:xfrm>
          <a:prstGeom prst="borderCallout1">
            <a:avLst/>
          </a:prstGeom>
          <a:solidFill>
            <a:srgbClr val="FFFFE6"/>
          </a:solidFill>
          <a:ln>
            <a:solidFill>
              <a:srgbClr val="96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まずは小さな一歩から始めてみましょう！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97372" y="731520"/>
            <a:ext cx="759695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70C0"/>
                </a:solidFill>
              </a:defRPr>
            </a:pPr>
            <a:r>
              <a:rPr dirty="0" err="1"/>
              <a:t>明日、まず誰の、何を認めますか</a:t>
            </a:r>
            <a:r>
              <a:rPr dirty="0"/>
              <a:t>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2200"/>
            </a:pPr>
            <a:r>
              <a:t>行動宣言：明日、【　】に対し、【　】をする</a:t>
            </a:r>
          </a:p>
          <a:p>
            <a:pPr>
              <a:spcAft>
                <a:spcPts val="1200"/>
              </a:spcAft>
              <a:defRPr sz="2200"/>
            </a:pPr>
            <a:r>
              <a:t>・具体的、かつ小さな一歩に絞る</a:t>
            </a:r>
          </a:p>
          <a:p>
            <a:pPr>
              <a:spcAft>
                <a:spcPts val="1200"/>
              </a:spcAft>
              <a:defRPr sz="2200"/>
            </a:pPr>
            <a:r>
              <a:t>・「部下が育つ店は、店長が一番学んでいる店」</a:t>
            </a:r>
          </a:p>
          <a:p>
            <a:pPr>
              <a:spcAft>
                <a:spcPts val="1200"/>
              </a:spcAft>
              <a:defRPr sz="2200"/>
            </a:pPr>
            <a:r>
              <a:t>ペアになり「それ、いいですね」と承認し合う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568</Words>
  <Application>Microsoft Office PowerPoint</Application>
  <PresentationFormat>ワイド画面</PresentationFormat>
  <Paragraphs>137</Paragraphs>
  <Slides>16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0" baseType="lpstr"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村上隆昭</cp:lastModifiedBy>
  <cp:revision>2</cp:revision>
  <dcterms:created xsi:type="dcterms:W3CDTF">2013-01-27T09:14:16Z</dcterms:created>
  <dcterms:modified xsi:type="dcterms:W3CDTF">2026-04-13T02:44:28Z</dcterms:modified>
  <cp:category/>
</cp:coreProperties>
</file>