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テクニックではなく在り方を強調。最後は矢印のシンプルな図としてイメージ。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心理的安全を整える一言を添える。一言でいいですよと気軽に促す。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才能でも環境でもないことを断言。キーワードはマインドセット。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自己診断として投げかけ、切り替えられることが重要であると〆る。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静かな時間をつくる。書けない人にはなぜ書けないかを書くよう促す。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自己認識の精度が関わり方を決める。ジョハリの窓に触れても良い。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ズレがあることが学びになる。第二部への橋渡し。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感情伝染（エモーショナルコンテイジョン）について説明。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誰にも見せなくていい。怒りの正体（べき思考）を言語化。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我慢ではなく変換。次のコミュニケーションパートへ橋渡し。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指示 vs 対話。相手が自分の言葉で動き出す状態を目指す。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実際に声に出して体感させる。どのタイプが届くかを気づかせる。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存在・行動・成果・成長。行動やプロセスに注目するのがポイント。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店長の設計力が試される最終パート。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今日学んだ承認をその場で実践する。問いを最後に残して終わる。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店長のための人材育成講座</a:t>
            </a:r>
          </a:p>
          <a:p>
            <a:pPr algn="ctr">
              <a:defRPr sz="2400"/>
            </a:pPr>
            <a:r>
              <a:t>― まず自分を育てる、そして部下を育てる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対象：小売業 店長 ／ 形式：ワークショップ（2時間）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部下を育てる前に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あなた自身は、育ち続けていますか？</a:t>
            </a:r>
          </a:p>
          <a:p>
            <a:pPr>
              <a:spcAft>
                <a:spcPts val="1000"/>
              </a:spcAft>
              <a:defRPr sz="2000"/>
            </a:pPr>
            <a:r>
              <a:t>・この講座は「部下育成のテクニック」を教えません</a:t>
            </a:r>
          </a:p>
          <a:p>
            <a:pPr>
              <a:spcAft>
                <a:spcPts val="1000"/>
              </a:spcAft>
              <a:defRPr sz="2000"/>
            </a:pPr>
            <a:r>
              <a:t>・店長自身の「在り方」を問い直す2時間です</a:t>
            </a:r>
          </a:p>
          <a:p>
            <a:pPr>
              <a:spcAft>
                <a:spcPts val="1000"/>
              </a:spcAft>
              <a:defRPr sz="2000"/>
            </a:pPr>
            <a:r>
              <a:t>自分を育てる → 感情を整える → 伝わる言葉 → 部下が育つ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隣の人と話してみましょう（3分）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「今、店長として一番しんどいことは何ですか？」</a:t>
            </a:r>
          </a:p>
          <a:p>
            <a:pPr>
              <a:spcAft>
                <a:spcPts val="1000"/>
              </a:spcAft>
              <a:defRPr sz="2000"/>
            </a:pPr>
            <a:r>
              <a:t>・正解はありません</a:t>
            </a:r>
          </a:p>
          <a:p>
            <a:pPr>
              <a:spcAft>
                <a:spcPts val="1000"/>
              </a:spcAft>
              <a:defRPr sz="2000"/>
            </a:pPr>
            <a:r>
              <a:t>・まず自分が話す、次に聞く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48235"/>
                </a:solidFill>
              </a:defRPr>
            </a:pPr>
            <a:r>
              <a:t>第一部① 学ぶ姿勢・成長マインドセット</a:t>
            </a:r>
          </a:p>
          <a:p>
            <a:pPr algn="ctr">
              <a:defRPr sz="4000" b="1"/>
            </a:pPr>
            <a:r>
              <a:t>「成長し続ける店長」と「止まってしまう店長」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固定型 vs 成長型　どちらにありますか？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【固定型】「向いてない」「能力は変わらない」「忙しいから無理」</a:t>
            </a:r>
          </a:p>
          <a:p>
            <a:pPr>
              <a:spcAft>
                <a:spcPts val="1000"/>
              </a:spcAft>
              <a:defRPr sz="2000"/>
            </a:pPr>
            <a:r>
              <a:t>【成長型】「失敗から学ぶ」「盗めるものはないか」「5分でもやる」</a:t>
            </a:r>
          </a:p>
          <a:p>
            <a:pPr>
              <a:spcAft>
                <a:spcPts val="1000"/>
              </a:spcAft>
              <a:defRPr sz="2000"/>
            </a:pPr>
            <a:r>
              <a:t>マインドセットは「気づいた瞬間」から変えられる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方眼ノートに書いてみましょう（5分）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① 自分が最後に「本気で学んだ」のはいつですか？</a:t>
            </a:r>
          </a:p>
          <a:p>
            <a:pPr>
              <a:spcAft>
                <a:spcPts val="1000"/>
              </a:spcAft>
              <a:defRPr sz="2000"/>
            </a:pPr>
            <a:r>
              <a:t>② そのきっかけは？その後どう変わりましたか？</a:t>
            </a:r>
          </a:p>
          <a:p>
            <a:pPr>
              <a:spcAft>
                <a:spcPts val="1000"/>
              </a:spcAft>
              <a:defRPr sz="2000"/>
            </a:pPr>
            <a:r>
              <a:t>③ 「忙しくて学べない」とき、何が優先されていますか？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店長として自分をどれくらい知っていますか？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① 得意なこと（強み）→ どんな場面で発揮？</a:t>
            </a:r>
          </a:p>
          <a:p>
            <a:pPr>
              <a:spcAft>
                <a:spcPts val="1000"/>
              </a:spcAft>
              <a:defRPr sz="2000"/>
            </a:pPr>
            <a:r>
              <a:t>② 苦手なこと（弱み）→ それを補うために？</a:t>
            </a:r>
          </a:p>
          <a:p>
            <a:pPr>
              <a:spcAft>
                <a:spcPts val="1000"/>
              </a:spcAft>
              <a:defRPr sz="2000"/>
            </a:pPr>
            <a:r>
              <a:t>③ 大切なこと（価値観）→ 譲れないものは？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強みを相手の言葉で伝え合う（各3分）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「私が感じるあなたの強みは、〇〇なところです」</a:t>
            </a:r>
          </a:p>
          <a:p>
            <a:pPr>
              <a:spcAft>
                <a:spcPts val="1000"/>
              </a:spcAft>
              <a:defRPr sz="2000"/>
            </a:pPr>
            <a:r>
              <a:t>・自己申告ではなく、他者からの言葉を受け取る</a:t>
            </a:r>
          </a:p>
          <a:p>
            <a:pPr>
              <a:spcAft>
                <a:spcPts val="1000"/>
              </a:spcAft>
              <a:defRPr sz="2000"/>
            </a:pPr>
            <a:r>
              <a:t>・自分の見えていない面を知ることが部下理解の入口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48235"/>
                </a:solidFill>
              </a:defRPr>
            </a:pPr>
            <a:r>
              <a:t>第二部① 感情のクセを知り、整える</a:t>
            </a:r>
          </a:p>
          <a:p>
            <a:pPr algn="ctr">
              <a:defRPr sz="4000" b="1"/>
            </a:pPr>
            <a:r>
              <a:t>店長の感情が売場をつくる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「〜すべき」の裏側にあるもの（7分）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① 最近、イライラした場面を3つ挙げてください</a:t>
            </a:r>
          </a:p>
          <a:p>
            <a:pPr>
              <a:spcAft>
                <a:spcPts val="1000"/>
              </a:spcAft>
              <a:defRPr sz="2000"/>
            </a:pPr>
            <a:r>
              <a:t>② そのとき期待していた「〜すべき」は何ですか？</a:t>
            </a:r>
          </a:p>
          <a:p>
            <a:pPr>
              <a:spcAft>
                <a:spcPts val="1000"/>
              </a:spcAft>
              <a:defRPr sz="2000"/>
            </a:pPr>
            <a:r>
              <a:t>③ その「べき」は誰から学んだものですか？</a:t>
            </a:r>
          </a:p>
          <a:p>
            <a:pPr>
              <a:spcAft>
                <a:spcPts val="1000"/>
              </a:spcAft>
              <a:defRPr sz="2000"/>
            </a:pPr>
            <a:r>
              <a:t>怒り ＝ 「べき思考」が裏切られたサイン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感情コントロールは「変換」の技術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・6秒ルール：ピークが過ぎるまで反応を待つ</a:t>
            </a:r>
          </a:p>
          <a:p>
            <a:pPr>
              <a:spcAft>
                <a:spcPts val="1000"/>
              </a:spcAft>
              <a:defRPr sz="2000"/>
            </a:pPr>
            <a:r>
              <a:t>・「なんで！」を「してほしかった（要望）」へ</a:t>
            </a:r>
          </a:p>
          <a:p>
            <a:pPr>
              <a:spcAft>
                <a:spcPts val="1000"/>
              </a:spcAft>
              <a:defRPr sz="2000"/>
            </a:pPr>
            <a:r>
              <a:t>× また遅刻か！ → ○ 時間通りに来てほしかった。何かあった？</a:t>
            </a:r>
          </a:p>
          <a:p>
            <a:pPr>
              <a:spcAft>
                <a:spcPts val="1000"/>
              </a:spcAft>
              <a:defRPr sz="2000"/>
            </a:pPr>
            <a:r>
              <a:t>× 何度言えば！ → ○ 手順をもう一度一緒に確認したい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48235"/>
                </a:solidFill>
              </a:defRPr>
            </a:pPr>
            <a:r>
              <a:t>第二部② 伝わるコミュニケーションの設計</a:t>
            </a:r>
          </a:p>
          <a:p>
            <a:pPr algn="ctr">
              <a:defRPr sz="4000" b="1"/>
            </a:pPr>
            <a:r>
              <a:t>「指示したつもり」の落とし穴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遅刻が続く部下への関わり方を変える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① 命令型：「またか。何度言えばわかる」</a:t>
            </a:r>
          </a:p>
          <a:p>
            <a:pPr>
              <a:spcAft>
                <a:spcPts val="1000"/>
              </a:spcAft>
              <a:defRPr sz="2000"/>
            </a:pPr>
            <a:r>
              <a:t>② 承認型：「最近頑張ってるね。遅刻だけ改善しよう」</a:t>
            </a:r>
          </a:p>
          <a:p>
            <a:pPr>
              <a:spcAft>
                <a:spcPts val="1000"/>
              </a:spcAft>
              <a:defRPr sz="2000"/>
            </a:pPr>
            <a:r>
              <a:t>③ 問いかけ型：「最近続いてるけど、何か困ってる？」</a:t>
            </a:r>
          </a:p>
          <a:p>
            <a:pPr>
              <a:spcAft>
                <a:spcPts val="1000"/>
              </a:spcAft>
              <a:defRPr sz="2000"/>
            </a:pPr>
            <a:r>
              <a:t>相手に一番届くのはどのタイプ？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部下が「見てもらえている」と感じる関わり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1. 【存在承認】「おはよう」「ありがとう」</a:t>
            </a:r>
          </a:p>
          <a:p>
            <a:pPr>
              <a:spcAft>
                <a:spcPts val="1000"/>
              </a:spcAft>
              <a:defRPr sz="2000"/>
            </a:pPr>
            <a:r>
              <a:t>2. 【行動承認】「〇〇してくれたね」</a:t>
            </a:r>
          </a:p>
          <a:p>
            <a:pPr>
              <a:spcAft>
                <a:spcPts val="1000"/>
              </a:spcAft>
              <a:defRPr sz="2000"/>
            </a:pPr>
            <a:r>
              <a:t>3. 【成果承認】「目標達成！よくやった」</a:t>
            </a:r>
          </a:p>
          <a:p>
            <a:pPr>
              <a:spcAft>
                <a:spcPts val="1000"/>
              </a:spcAft>
              <a:defRPr sz="2000"/>
            </a:pPr>
            <a:r>
              <a:t>4. 【成長承認】「先月より確実に成長してるね」</a:t>
            </a:r>
          </a:p>
          <a:p>
            <a:pPr>
              <a:spcAft>
                <a:spcPts val="1000"/>
              </a:spcAft>
              <a:defRPr sz="2000"/>
            </a:pPr>
            <a:r>
              <a:t>第4段階まで使い、人を育てる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48235"/>
                </a:solidFill>
              </a:defRPr>
            </a:pPr>
            <a:r>
              <a:t>第三部 育つ場の設計と明日からの行動</a:t>
            </a:r>
          </a:p>
          <a:p>
            <a:pPr algn="ctr">
              <a:defRPr sz="4000" b="1"/>
            </a:pPr>
            <a:r>
              <a:t>「育てる」のではなく「育つ場をつくる」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40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明日、まず誰の、何を認めますか？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行動宣言：明日、【　】に対し、【　】をする</a:t>
            </a:r>
          </a:p>
          <a:p>
            <a:pPr>
              <a:spcAft>
                <a:spcPts val="1000"/>
              </a:spcAft>
              <a:defRPr sz="2000"/>
            </a:pPr>
            <a:r>
              <a:t>・具体的、かつ小さな一歩に絞る</a:t>
            </a:r>
          </a:p>
          <a:p>
            <a:pPr>
              <a:spcAft>
                <a:spcPts val="1000"/>
              </a:spcAft>
              <a:defRPr sz="2000"/>
            </a:pPr>
            <a:r>
              <a:t>・「部下が育つ店は、店長が一番学んでいる店」</a:t>
            </a:r>
          </a:p>
          <a:p>
            <a:pPr>
              <a:spcAft>
                <a:spcPts val="1000"/>
              </a:spcAft>
              <a:defRPr sz="2000"/>
            </a:pPr>
            <a:r>
              <a:t>ペアになり「それ、いいですね」と承認し合う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